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962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D1500"/>
          </a:solidFill>
          <a:ln w="12700">
            <a:solidFill>
              <a:srgbClr val="2D1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640080"/>
            <a:ext cx="2926080" cy="2926080"/>
          </a:xfrm>
          <a:prstGeom prst="ellipse">
            <a:avLst/>
          </a:prstGeom>
          <a:solidFill>
            <a:srgbClr val="C9893A">
              <a:alpha val="15000"/>
            </a:srgbClr>
          </a:solidFill>
          <a:ln w="12700">
            <a:solidFill>
              <a:srgbClr val="C9893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73152" cy="2286000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657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VintageHub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&amp; ERP para Brechós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Peças únicas com história  ✦  Moda sustentável  ✦  Estilo atemporal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4572000" cy="27432"/>
          </a:xfrm>
          <a:prstGeom prst="rect">
            <a:avLst/>
          </a:prstGeom>
          <a:solidFill>
            <a:srgbClr val="4A28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27432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1272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31272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Produto – E-commerce + ERP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5112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35112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Fatec Ourinhos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3B3B8D51-4577-49BB-AAE1-DA76D3D39521}"/>
              </a:ext>
            </a:extLst>
          </p:cNvPr>
          <p:cNvSpPr/>
          <p:nvPr/>
        </p:nvSpPr>
        <p:spPr>
          <a:xfrm>
            <a:off x="7503980" y="3511296"/>
            <a:ext cx="1707372" cy="759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Gonçalves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</a:t>
            </a:r>
            <a:r>
              <a:rPr lang="en-US" sz="1600" b="1" dirty="0" err="1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Zanchetta</a:t>
            </a:r>
            <a:endParaRPr lang="en-US" sz="1600" b="1" dirty="0">
              <a:solidFill>
                <a:srgbClr val="F5ECD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6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Fontes</a:t>
            </a:r>
            <a:endParaRPr lang="en-US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2D1500"/>
          </a:solidFill>
          <a:ln w="12700">
            <a:solidFill>
              <a:srgbClr val="2D1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B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da apresentação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554480"/>
            <a:ext cx="201168" cy="201168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36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do Projeto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874520"/>
            <a:ext cx="201168" cy="201168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56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194560"/>
            <a:ext cx="201168" cy="201168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76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SMART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514600"/>
            <a:ext cx="201168" cy="201168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96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Esperados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834640"/>
            <a:ext cx="201168" cy="201168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16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&amp; Equipe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154680"/>
            <a:ext cx="201168" cy="201168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36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474720"/>
            <a:ext cx="201168" cy="201168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56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do Sistema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794760"/>
            <a:ext cx="201168" cy="201168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76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4114800"/>
            <a:ext cx="201168" cy="201168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96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4434840"/>
            <a:ext cx="201168" cy="201168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&amp; Cronograma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4754880"/>
            <a:ext cx="201168" cy="201168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736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365760"/>
            <a:ext cx="5577840" cy="4389120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5943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B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 o VintageHub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383280" y="123444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VintageHub é uma plataforma completa de e-commerce voltada para brechós, unindo uma loja virtual moderna para consumidores com um sistema ERP integrado para administradores — tudo em um único produto de software.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nasce da necessidade de digitalizar brechós tradicionais, oferecendo uma experiência de compra moderna e sustentável, com gestão eficiente do estoque, pedidos e finanças.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383280" y="3611880"/>
            <a:ext cx="1664208" cy="347472"/>
          </a:xfrm>
          <a:prstGeom prst="roundRect">
            <a:avLst>
              <a:gd name="adj" fmla="val 26316"/>
            </a:avLst>
          </a:prstGeom>
          <a:solidFill>
            <a:srgbClr val="C9893A">
              <a:alpha val="25000"/>
            </a:srgbClr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61188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66360" y="3611880"/>
            <a:ext cx="1664208" cy="347472"/>
          </a:xfrm>
          <a:prstGeom prst="roundRect">
            <a:avLst>
              <a:gd name="adj" fmla="val 26316"/>
            </a:avLst>
          </a:prstGeom>
          <a:solidFill>
            <a:srgbClr val="C9893A">
              <a:alpha val="25000"/>
            </a:srgbClr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361188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Integrado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49440" y="3611880"/>
            <a:ext cx="1664208" cy="347472"/>
          </a:xfrm>
          <a:prstGeom prst="roundRect">
            <a:avLst>
              <a:gd name="adj" fmla="val 26316"/>
            </a:avLst>
          </a:prstGeom>
          <a:solidFill>
            <a:srgbClr val="C9893A">
              <a:alpha val="25000"/>
            </a:srgbClr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361188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Estoque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83280" y="4114800"/>
            <a:ext cx="1664208" cy="347472"/>
          </a:xfrm>
          <a:prstGeom prst="roundRect">
            <a:avLst>
              <a:gd name="adj" fmla="val 26316"/>
            </a:avLst>
          </a:prstGeom>
          <a:solidFill>
            <a:srgbClr val="C9893A">
              <a:alpha val="25000"/>
            </a:srgbClr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411480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66360" y="4114800"/>
            <a:ext cx="1664208" cy="347472"/>
          </a:xfrm>
          <a:prstGeom prst="roundRect">
            <a:avLst>
              <a:gd name="adj" fmla="val 26316"/>
            </a:avLst>
          </a:prstGeom>
          <a:solidFill>
            <a:srgbClr val="C9893A">
              <a:alpha val="25000"/>
            </a:srgbClr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411480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Completo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500"/>
          </a:solidFill>
          <a:ln w="12700">
            <a:solidFill>
              <a:srgbClr val="2D1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DESCRIÇÃO DO PROJETO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840480" cy="822960"/>
          </a:xfrm>
          <a:prstGeom prst="rect">
            <a:avLst/>
          </a:prstGeom>
          <a:solidFill>
            <a:srgbClr val="2A1200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VintageHub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3840480" cy="1188720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48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RESUMIDA: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de um sistema web que integra e-commerce para clientes finais e painel ERP para administradores de brechós.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4206240" cy="1645920"/>
          </a:xfrm>
          <a:prstGeom prst="rect">
            <a:avLst/>
          </a:prstGeom>
          <a:solidFill>
            <a:srgbClr val="2A1200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188720"/>
            <a:ext cx="4206240" cy="384048"/>
          </a:xfrm>
          <a:prstGeom prst="rect">
            <a:avLst/>
          </a:prstGeom>
          <a:solidFill>
            <a:srgbClr val="C9893A">
              <a:alpha val="80000"/>
            </a:srgbClr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88720"/>
            <a:ext cx="40233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 Módulo E-Commerce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682496"/>
            <a:ext cx="91440" cy="91440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6642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de produtos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929384"/>
            <a:ext cx="91440" cy="91440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9110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 e checkout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176272"/>
            <a:ext cx="91440" cy="91440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1579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cadastro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423160"/>
            <a:ext cx="91440" cy="91440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4048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pedidos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670048"/>
            <a:ext cx="91440" cy="91440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651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Cupons de desconto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017520"/>
            <a:ext cx="4206240" cy="1645920"/>
          </a:xfrm>
          <a:prstGeom prst="rect">
            <a:avLst/>
          </a:prstGeom>
          <a:solidFill>
            <a:srgbClr val="2A1200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017520"/>
            <a:ext cx="4206240" cy="384048"/>
          </a:xfrm>
          <a:prstGeom prst="rect">
            <a:avLst/>
          </a:prstGeom>
          <a:solidFill>
            <a:srgbClr val="5B8FD4">
              <a:alpha val="80000"/>
            </a:srgbClr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017520"/>
            <a:ext cx="40233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Admin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511296"/>
            <a:ext cx="91440" cy="91440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34930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 KPIs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758184"/>
            <a:ext cx="91440" cy="91440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739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estoque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4005072"/>
            <a:ext cx="91440" cy="91440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9867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pedidos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4251960"/>
            <a:ext cx="91440" cy="91440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42336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financeiros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4498848"/>
            <a:ext cx="91440" cy="91440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44805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produtos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3429000"/>
            <a:ext cx="8595360" cy="1417320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493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ENVOLVIDAS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384048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2D1500"/>
          </a:solidFill>
          <a:ln w="12700">
            <a:solidFill>
              <a:srgbClr val="C9893A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84048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384048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2D1500"/>
          </a:solidFill>
          <a:ln w="12700">
            <a:solidFill>
              <a:srgbClr val="C9893A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74520" y="384048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91840" y="384048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2D1500"/>
          </a:solidFill>
          <a:ln w="12700">
            <a:solidFill>
              <a:srgbClr val="C9893A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1840" y="384048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09160" y="384048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2D1500"/>
          </a:solidFill>
          <a:ln w="12700">
            <a:solidFill>
              <a:srgbClr val="C9893A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384048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26480" y="384048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2D1500"/>
          </a:solidFill>
          <a:ln w="12700">
            <a:solidFill>
              <a:srgbClr val="C9893A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384048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543800" y="384048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2D1500"/>
          </a:solidFill>
          <a:ln w="12700">
            <a:solidFill>
              <a:srgbClr val="C9893A">
                <a:alpha val="5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43800" y="384048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500"/>
          </a:solidFill>
          <a:ln w="12700">
            <a:solidFill>
              <a:srgbClr val="2D1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JUSTIFICATIVA — Por que fazer o VintageHub?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719072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45720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8016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Brechós sem digitalização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755648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brechós opera manualmente, sem sistemas de gestão ou vendas online, perdendo oportunidades de mercado.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82112" y="1188720"/>
            <a:ext cx="2743200" cy="1719072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1188720"/>
            <a:ext cx="2743200" cy="45720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8016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Crescimento da moda sustentável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755648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de segunda mão cresceu mais de 20% nos últimos anos. A demanda existe, mas a oferta digital é escassa.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9904" y="1188720"/>
            <a:ext cx="2743200" cy="1719072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1188720"/>
            <a:ext cx="2743200" cy="45720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28016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Perda de receita por falta de ERP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9632" y="1755648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estoque manual gera erros, perdas e ineficiência. Brechós precisam de sistemas simples e acessíveis.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2743200" cy="1719072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63240"/>
            <a:ext cx="2743200" cy="45720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1546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👗  Experiência de compra ultrapassada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3630168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Compradores de moda vintage buscam praticidade. A ausência de e-commerce afasta o público mais jovem e digital.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82112" y="3063240"/>
            <a:ext cx="2743200" cy="1719072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3063240"/>
            <a:ext cx="2743200" cy="45720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1546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Dificuldade de rastrear pedidos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630168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sistema centralizado, clientes não têm visibilidade sobre seus pedidos, gerando insatisfação e reclamações.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9904" y="3063240"/>
            <a:ext cx="2743200" cy="1719072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9904" y="3063240"/>
            <a:ext cx="2743200" cy="45720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31546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Precificação e cupons manuais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99632" y="3630168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Promoções e descontos são gerenciados manualmente, dificultando a estratégia de vendas e fidelização.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500"/>
          </a:solidFill>
          <a:ln w="12700">
            <a:solidFill>
              <a:srgbClr val="2D1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 OBJETIVOS SMART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572768" cy="640080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93392" y="1143000"/>
            <a:ext cx="1572768" cy="64008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11430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42032" y="11430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Mensurável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12464" y="1143000"/>
            <a:ext cx="1572768" cy="640080"/>
          </a:xfrm>
          <a:prstGeom prst="rect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2464" y="11430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261104" y="11430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Atingível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31536" y="1143000"/>
            <a:ext cx="1572768" cy="640080"/>
          </a:xfrm>
          <a:prstGeom prst="rect">
            <a:avLst/>
          </a:prstGeom>
          <a:solidFill>
            <a:srgbClr val="8B6BBE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1536" y="11430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980176" y="11430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50608" y="1143000"/>
            <a:ext cx="1572768" cy="64008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11430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699248" y="11430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1965960"/>
            <a:ext cx="8595360" cy="658368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1965960"/>
            <a:ext cx="914400" cy="658368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96596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+ 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2002536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o e-commerce VintageHub com módulo de compras funcional em até 6 meses após início do desenvolvimento.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2724912"/>
            <a:ext cx="8595360" cy="658368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724912"/>
            <a:ext cx="914400" cy="658368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72491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 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2761488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ao menos 50 produtos no sistema e realizar 10 transações de teste com sucesso antes do lançamento oficial.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483864"/>
            <a:ext cx="8595360" cy="658368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483864"/>
            <a:ext cx="914400" cy="658368"/>
          </a:xfrm>
          <a:prstGeom prst="rect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48386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+ 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25880" y="352044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Disponibilizar painel administrativo (ERP) com controle de estoque, pedidos e relatórios financeiros integrados ao e-commerce.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242816"/>
            <a:ext cx="8595360" cy="658368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242816"/>
            <a:ext cx="914400" cy="658368"/>
          </a:xfrm>
          <a:prstGeom prst="rect">
            <a:avLst/>
          </a:prstGeom>
          <a:solidFill>
            <a:srgbClr val="8B6BBE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24281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 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325880" y="4279392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Atingir tempo de carregamento abaixo de 3 segundos nas páginas principais em dispositivos móveis e desktop.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500"/>
          </a:solidFill>
          <a:ln w="12700">
            <a:solidFill>
              <a:srgbClr val="2D1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 BENEFÍCIOS ESPERADOS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931920" cy="2286000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FINANCEIRA (ESTIMADA)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38404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18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 Receita mensal estimada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6184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R$ 18.000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039112"/>
            <a:ext cx="3840480" cy="384048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57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(–) Custo operacional mensal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0574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0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R$ 4.000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478024"/>
            <a:ext cx="3840480" cy="384048"/>
          </a:xfrm>
          <a:prstGeom prst="rect">
            <a:avLst/>
          </a:prstGeom>
          <a:solidFill>
            <a:srgbClr val="2D15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963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Ganho líquido mensal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4963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R$ 14.000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916936"/>
            <a:ext cx="3840480" cy="384048"/>
          </a:xfrm>
          <a:prstGeom prst="rect">
            <a:avLst/>
          </a:prstGeom>
          <a:solidFill>
            <a:srgbClr val="2D15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352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estimado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9352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meses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34840" y="1143000"/>
            <a:ext cx="2194560" cy="1325880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12161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Aumento de Vendas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26280" y="158191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venda online expande alcance para todo o Brasil, aumentando o volume de pedidos.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66560" y="1143000"/>
            <a:ext cx="2194560" cy="1325880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2161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Eficiência Operacional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158191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do controle de estoque reduz erros e economiza horas de trabalho manual.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34840" y="2606040"/>
            <a:ext cx="2194560" cy="1325880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26791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Presença Digital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26280" y="304495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posicionada no mercado digital de moda sustentável com identidade visual forte.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66560" y="2606040"/>
            <a:ext cx="2194560" cy="1325880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26791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 Experiência do Cliente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304495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compra intuitivo, rastreamento e suporte geram fidelização e recompra.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3547872"/>
            <a:ext cx="8595360" cy="1325880"/>
          </a:xfrm>
          <a:prstGeom prst="rect">
            <a:avLst/>
          </a:prstGeom>
          <a:solidFill>
            <a:srgbClr val="2A1200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6210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IMPACTO SOCIAL &amp; SUSTENTABILIDADE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395020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VintageHub contribui diretamente para a economia circular, prolongando a vida útil de roupas e acessórios, reduzindo o descarte têxtil e promovendo o consumo consciente — valores cada vez mais valorizados pelo consumidor moderno.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500"/>
          </a:solidFill>
          <a:ln w="12700">
            <a:solidFill>
              <a:srgbClr val="2D1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👥  STAKEHOLDERS &amp; EQUIPE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023360" cy="1920240"/>
          </a:xfrm>
          <a:prstGeom prst="rect">
            <a:avLst/>
          </a:prstGeom>
          <a:solidFill>
            <a:srgbClr val="2A1200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023360" cy="384048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PRINCIPAIS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 Dono(a) do Brechó (Sponsor)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Gerente de Marketing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054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Diretor Comercial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154680"/>
            <a:ext cx="4023360" cy="1737360"/>
          </a:xfrm>
          <a:prstGeom prst="rect">
            <a:avLst/>
          </a:prstGeom>
          <a:solidFill>
            <a:srgbClr val="2A1200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3154680"/>
            <a:ext cx="4023360" cy="384048"/>
          </a:xfrm>
          <a:prstGeom prst="rect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54680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DEMAIS STAKEHOLDERS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 Clientes finais (compradores)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Fornecedores / doadores de peças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Parceiros de logística / frete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1143000"/>
            <a:ext cx="4297680" cy="3749040"/>
          </a:xfrm>
          <a:prstGeom prst="rect">
            <a:avLst/>
          </a:prstGeom>
          <a:solidFill>
            <a:srgbClr val="2A1200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143000"/>
            <a:ext cx="4297680" cy="384048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143000"/>
            <a:ext cx="3931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DO PROJETO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1664208"/>
            <a:ext cx="128016" cy="12801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627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Projeto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93408" y="16276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geral, prazos e entregáveis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167128"/>
            <a:ext cx="128016" cy="12801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130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Frontend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93408" y="21305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UI/UX, wireframes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670048"/>
            <a:ext cx="128016" cy="12801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Backend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93408" y="26334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API REST, banco de dados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172968"/>
            <a:ext cx="128016" cy="12801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1363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Full Stack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93408" y="31363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Integração, testes, deploy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675888"/>
            <a:ext cx="128016" cy="12801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639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UX/UI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93408" y="36393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visual, protótipos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4178808"/>
            <a:ext cx="128016" cy="12801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41422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/ Infra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93408" y="41422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hospedagem, segurança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500"/>
          </a:solidFill>
          <a:ln w="12700">
            <a:solidFill>
              <a:srgbClr val="2D1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🔒  RESTRIÇÕES &amp; REQUISITOS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023360" cy="2286000"/>
          </a:xfrm>
          <a:prstGeom prst="rect">
            <a:avLst/>
          </a:prstGeom>
          <a:solidFill>
            <a:srgbClr val="2A1200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023360" cy="384048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RESTRIÇÕES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3566160" cy="594360"/>
          </a:xfrm>
          <a:prstGeom prst="rect">
            <a:avLst/>
          </a:prstGeom>
          <a:solidFill>
            <a:srgbClr val="2D15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007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ORÇAMENTO MÁXIMO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R$ 35.000,00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566160" cy="594360"/>
          </a:xfrm>
          <a:prstGeom prst="rect">
            <a:avLst/>
          </a:prstGeom>
          <a:solidFill>
            <a:srgbClr val="2D15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140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PRAZO LIMITE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633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meses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8595360" cy="1389888"/>
          </a:xfrm>
          <a:prstGeom prst="rect">
            <a:avLst/>
          </a:prstGeom>
          <a:solidFill>
            <a:srgbClr val="2A1200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520440"/>
            <a:ext cx="8595360" cy="384048"/>
          </a:xfrm>
          <a:prstGeom prst="rect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20440"/>
            <a:ext cx="8229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REQUISITOS DOS STAKEHOLDERS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4005072"/>
            <a:ext cx="91440" cy="91440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moderno, rápido e responsivo (mobile-first)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297680"/>
            <a:ext cx="91440" cy="91440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270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 intuitivo e com dados em tempo real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590288"/>
            <a:ext cx="91440" cy="91440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5628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cupons e promoções configurável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4005072"/>
            <a:ext cx="91440" cy="91440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seguro com múltiplas formas de pagamento (PIX, Cartão, Boleto)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4297680"/>
            <a:ext cx="91440" cy="91440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270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estoque com alertas de baixo estoque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1143000"/>
            <a:ext cx="4206240" cy="2286000"/>
          </a:xfrm>
          <a:prstGeom prst="rect">
            <a:avLst/>
          </a:prstGeom>
          <a:solidFill>
            <a:srgbClr val="2A1200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1143000"/>
            <a:ext cx="4206240" cy="384048"/>
          </a:xfrm>
          <a:prstGeom prst="rect">
            <a:avLst/>
          </a:prstGeom>
          <a:solidFill>
            <a:srgbClr val="C9893A">
              <a:alpha val="80000"/>
            </a:srgbClr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143000"/>
            <a:ext cx="3931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REFERÊNCIA DE WIREFRAMES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1645920"/>
            <a:ext cx="3886200" cy="365760"/>
          </a:xfrm>
          <a:prstGeom prst="rect">
            <a:avLst/>
          </a:prstGeom>
          <a:solidFill>
            <a:srgbClr val="2D15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6642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01 – Home (vitrine, hero, destaques)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2103120"/>
            <a:ext cx="3886200" cy="365760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1214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02 – Login / Cadastro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2560320"/>
            <a:ext cx="3886200" cy="365760"/>
          </a:xfrm>
          <a:prstGeom prst="rect">
            <a:avLst/>
          </a:prstGeom>
          <a:solidFill>
            <a:srgbClr val="2D15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5786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03 – Carrinho &amp; Checkout (4 etapas)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3017520"/>
            <a:ext cx="3886200" cy="365760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0358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04 – Dashboard Admin (ERP)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500"/>
          </a:solidFill>
          <a:ln w="12700">
            <a:solidFill>
              <a:srgbClr val="2D1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📦  ENTREGÁVEIS DO PROJETO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06240" cy="1783080"/>
          </a:xfrm>
          <a:prstGeom prst="rect">
            <a:avLst/>
          </a:prstGeom>
          <a:solidFill>
            <a:srgbClr val="2A1200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206240" cy="384048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40233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E-commerce 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636776"/>
            <a:ext cx="91440" cy="91440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Home com vitrine e banners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883664"/>
            <a:ext cx="91440" cy="91440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562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Listagem e filtro de produtos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130552"/>
            <a:ext cx="91440" cy="91440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031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produto com fotos e estados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2377440"/>
            <a:ext cx="91440" cy="91440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500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 com cálculo de frete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2624328"/>
            <a:ext cx="91440" cy="91440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968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em 4 etapas (Itens → Entrega → Pagamento → Confirmação)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143000"/>
            <a:ext cx="4206240" cy="1783080"/>
          </a:xfrm>
          <a:prstGeom prst="rect">
            <a:avLst/>
          </a:prstGeom>
          <a:solidFill>
            <a:srgbClr val="2A1200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143000"/>
            <a:ext cx="4206240" cy="384048"/>
          </a:xfrm>
          <a:prstGeom prst="rect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143000"/>
            <a:ext cx="40233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Módulo de Autenticação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18888" y="1636776"/>
            <a:ext cx="91440" cy="91440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6093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login e cadastro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18888" y="1883664"/>
            <a:ext cx="91440" cy="91440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8562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senha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18888" y="2130552"/>
            <a:ext cx="91440" cy="91440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1031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social (Google / Facebook)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18888" y="2377440"/>
            <a:ext cx="91440" cy="91440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3500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Redirecionamento admin automático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063240"/>
            <a:ext cx="4206240" cy="1783080"/>
          </a:xfrm>
          <a:prstGeom prst="rect">
            <a:avLst/>
          </a:prstGeom>
          <a:solidFill>
            <a:srgbClr val="2A1200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63240"/>
            <a:ext cx="4206240" cy="384048"/>
          </a:xfrm>
          <a:prstGeom prst="rect">
            <a:avLst/>
          </a:prstGeom>
          <a:solidFill>
            <a:srgbClr val="8B6BBE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063240"/>
            <a:ext cx="40233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Painel ERP Administrativo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4048" y="3557016"/>
            <a:ext cx="91440" cy="91440"/>
          </a:xfrm>
          <a:prstGeom prst="ellipse">
            <a:avLst/>
          </a:prstGeom>
          <a:solidFill>
            <a:srgbClr val="8B6BBE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5295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 KPIs e gráficos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84048" y="3803904"/>
            <a:ext cx="91440" cy="91440"/>
          </a:xfrm>
          <a:prstGeom prst="ellipse">
            <a:avLst/>
          </a:prstGeom>
          <a:solidFill>
            <a:srgbClr val="8B6BBE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7764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pedidos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4048" y="4050792"/>
            <a:ext cx="91440" cy="91440"/>
          </a:xfrm>
          <a:prstGeom prst="ellipse">
            <a:avLst/>
          </a:prstGeom>
          <a:solidFill>
            <a:srgbClr val="8B6BBE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0233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edição de produtos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84048" y="4297680"/>
            <a:ext cx="91440" cy="91440"/>
          </a:xfrm>
          <a:prstGeom prst="ellipse">
            <a:avLst/>
          </a:prstGeom>
          <a:solidFill>
            <a:srgbClr val="8B6BBE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2702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estoque e alertas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84048" y="4544568"/>
            <a:ext cx="91440" cy="91440"/>
          </a:xfrm>
          <a:prstGeom prst="ellipse">
            <a:avLst/>
          </a:prstGeom>
          <a:solidFill>
            <a:srgbClr val="8B6BBE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5171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cupons e promoções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09160" y="3063240"/>
            <a:ext cx="4206240" cy="1783080"/>
          </a:xfrm>
          <a:prstGeom prst="rect">
            <a:avLst/>
          </a:prstGeom>
          <a:solidFill>
            <a:srgbClr val="2A1200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3063240"/>
            <a:ext cx="4206240" cy="384048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063240"/>
            <a:ext cx="40233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Backend &amp; Banco de Dados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818888" y="3557016"/>
            <a:ext cx="91440" cy="9144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35295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completa (Node.js)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18888" y="3803904"/>
            <a:ext cx="91440" cy="9144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37764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relacional PostgreSQL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18888" y="4050792"/>
            <a:ext cx="91440" cy="9144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83480" y="40233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gateway de pagamento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18888" y="4297680"/>
            <a:ext cx="91440" cy="9144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83480" y="42702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envio de e-mails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18888" y="4544568"/>
            <a:ext cx="91440" cy="9144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83480" y="45171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JWT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500"/>
          </a:solidFill>
          <a:ln w="12700">
            <a:solidFill>
              <a:srgbClr val="2D1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RISCOS DO PROJETO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347472"/>
          </a:xfrm>
          <a:prstGeom prst="rect">
            <a:avLst/>
          </a:prstGeom>
          <a:solidFill>
            <a:srgbClr val="2D15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612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11612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11612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1612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8595360" cy="566928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64008" cy="566928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60934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crescente (Scope Creep)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1664208"/>
            <a:ext cx="749808" cy="365760"/>
          </a:xfrm>
          <a:prstGeom prst="roundRect">
            <a:avLst>
              <a:gd name="adj" fmla="val 12500"/>
            </a:avLst>
          </a:prstGeom>
          <a:solidFill>
            <a:srgbClr val="E05555">
              <a:alpha val="40000"/>
            </a:srgbClr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664208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60520" y="1664208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2D15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66420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6093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clara de requisitos, change control process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231136"/>
            <a:ext cx="8595360" cy="566928"/>
          </a:xfrm>
          <a:prstGeom prst="rect">
            <a:avLst/>
          </a:prstGeom>
          <a:solidFill>
            <a:srgbClr val="2D15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31136"/>
            <a:ext cx="64008" cy="56692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2677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na integração de pagamentos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91840" y="2322576"/>
            <a:ext cx="749808" cy="365760"/>
          </a:xfrm>
          <a:prstGeom prst="roundRect">
            <a:avLst>
              <a:gd name="adj" fmla="val 12500"/>
            </a:avLst>
          </a:prstGeom>
          <a:solidFill>
            <a:srgbClr val="F5C842">
              <a:alpha val="40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322576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60520" y="2322576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2D15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2322576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2677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antecipado da integração, uso de sandbox para testes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2889504"/>
            <a:ext cx="8595360" cy="566928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889504"/>
            <a:ext cx="64008" cy="56692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926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reduzida ou desistência de membro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91840" y="2980944"/>
            <a:ext cx="749808" cy="365760"/>
          </a:xfrm>
          <a:prstGeom prst="roundRect">
            <a:avLst>
              <a:gd name="adj" fmla="val 12500"/>
            </a:avLst>
          </a:prstGeom>
          <a:solidFill>
            <a:srgbClr val="F5C842">
              <a:alpha val="40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980944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60520" y="298094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2D15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2980944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2926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do código, pair programming, backup de papéis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547872"/>
            <a:ext cx="8595360" cy="566928"/>
          </a:xfrm>
          <a:prstGeom prst="rect">
            <a:avLst/>
          </a:prstGeom>
          <a:solidFill>
            <a:srgbClr val="2D15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547872"/>
            <a:ext cx="64008" cy="566928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5844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de segurança nos dados dos clientes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291840" y="3639312"/>
            <a:ext cx="749808" cy="365760"/>
          </a:xfrm>
          <a:prstGeom prst="roundRect">
            <a:avLst>
              <a:gd name="adj" fmla="val 12500"/>
            </a:avLst>
          </a:prstGeom>
          <a:solidFill>
            <a:srgbClr val="E05555">
              <a:alpha val="40000"/>
            </a:srgbClr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3639312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60520" y="3639312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2D15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0520" y="363931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37760" y="35844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JWT, HTTPS, testes de penetração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4206240"/>
            <a:ext cx="8595360" cy="566928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206240"/>
            <a:ext cx="64008" cy="566928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24281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Estouro de orçamento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291840" y="4297680"/>
            <a:ext cx="749808" cy="365760"/>
          </a:xfrm>
          <a:prstGeom prst="roundRect">
            <a:avLst>
              <a:gd name="adj" fmla="val 12500"/>
            </a:avLst>
          </a:prstGeom>
          <a:solidFill>
            <a:srgbClr val="4CAF7D">
              <a:alpha val="40000"/>
            </a:srgbClr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0" y="429768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60520" y="4297680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2D15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60520" y="42976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37760" y="42428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semanal de custos, buffer de contingência de 15%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500"/>
          </a:solidFill>
          <a:ln w="12700">
            <a:solidFill>
              <a:srgbClr val="2D1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📅  PRAZO &amp; CRONOGRAMA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2816352" cy="1783080"/>
          </a:xfrm>
          <a:prstGeom prst="rect">
            <a:avLst/>
          </a:prstGeom>
          <a:solidFill>
            <a:srgbClr val="2A1200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70432"/>
            <a:ext cx="2816352" cy="438912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170432"/>
            <a:ext cx="26517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Mês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" y="164592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&amp; Design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2029968"/>
            <a:ext cx="91440" cy="91440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00253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Model Canvas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276856"/>
            <a:ext cx="91440" cy="91440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24942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e protótipos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523744"/>
            <a:ext cx="91440" cy="91440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49631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tecnologias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770632"/>
            <a:ext cx="91440" cy="91440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74320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do repositório 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18688" y="1170432"/>
            <a:ext cx="2816352" cy="1783080"/>
          </a:xfrm>
          <a:prstGeom prst="rect">
            <a:avLst/>
          </a:prstGeom>
          <a:solidFill>
            <a:srgbClr val="2A1200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1170432"/>
            <a:ext cx="2816352" cy="438912"/>
          </a:xfrm>
          <a:prstGeom prst="rect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170432"/>
            <a:ext cx="26517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Meses 2-3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164592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Frontend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10128" y="2029968"/>
            <a:ext cx="91440" cy="91440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00253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login, listagem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10128" y="2276856"/>
            <a:ext cx="91440" cy="91440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24942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produto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10128" y="2523744"/>
            <a:ext cx="91440" cy="91440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9631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 e checkout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10128" y="2770632"/>
            <a:ext cx="91440" cy="91440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74320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Responsividade mobile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81344" y="1170432"/>
            <a:ext cx="2816352" cy="1783080"/>
          </a:xfrm>
          <a:prstGeom prst="rect">
            <a:avLst/>
          </a:prstGeom>
          <a:solidFill>
            <a:srgbClr val="2A1200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81344" y="1170432"/>
            <a:ext cx="2816352" cy="438912"/>
          </a:xfrm>
          <a:prstGeom prst="rect">
            <a:avLst/>
          </a:prstGeom>
          <a:solidFill>
            <a:srgbClr val="8B6BBE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1170432"/>
            <a:ext cx="26517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Meses 2-4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54496" y="164592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Backend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72784" y="2029968"/>
            <a:ext cx="91440" cy="91440"/>
          </a:xfrm>
          <a:prstGeom prst="ellipse">
            <a:avLst/>
          </a:prstGeom>
          <a:solidFill>
            <a:srgbClr val="8B6BBE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37376" y="200253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(Node.js)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72784" y="2276856"/>
            <a:ext cx="91440" cy="91440"/>
          </a:xfrm>
          <a:prstGeom prst="ellipse">
            <a:avLst/>
          </a:prstGeom>
          <a:solidFill>
            <a:srgbClr val="8B6BBE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7376" y="224942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PostgreSQL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72784" y="2523744"/>
            <a:ext cx="91440" cy="91440"/>
          </a:xfrm>
          <a:prstGeom prst="ellipse">
            <a:avLst/>
          </a:prstGeom>
          <a:solidFill>
            <a:srgbClr val="8B6BBE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37376" y="249631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pagamento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72784" y="2770632"/>
            <a:ext cx="91440" cy="91440"/>
          </a:xfrm>
          <a:prstGeom prst="ellipse">
            <a:avLst/>
          </a:prstGeom>
          <a:solidFill>
            <a:srgbClr val="8B6BBE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37376" y="274320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JWT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56032" y="3108960"/>
            <a:ext cx="2816352" cy="1783080"/>
          </a:xfrm>
          <a:prstGeom prst="rect">
            <a:avLst/>
          </a:prstGeom>
          <a:solidFill>
            <a:srgbClr val="2A1200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" y="3108960"/>
            <a:ext cx="2816352" cy="43891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3108960"/>
            <a:ext cx="26517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— Meses 3-4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9184" y="358444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ERP Admin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47472" y="3968496"/>
            <a:ext cx="91440" cy="9144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" y="394106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KPIs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47472" y="4215384"/>
            <a:ext cx="91440" cy="9144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" y="418795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produtos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47472" y="4462272"/>
            <a:ext cx="91440" cy="9144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" y="443484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pedidos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47472" y="4709160"/>
            <a:ext cx="91440" cy="9144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064" y="468172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 cupons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218688" y="3108960"/>
            <a:ext cx="2816352" cy="1783080"/>
          </a:xfrm>
          <a:prstGeom prst="rect">
            <a:avLst/>
          </a:prstGeom>
          <a:solidFill>
            <a:srgbClr val="2A120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18688" y="3108960"/>
            <a:ext cx="2816352" cy="43891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0" y="3108960"/>
            <a:ext cx="26517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— Mês 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291840" y="358444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&amp; QA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3310128" y="3968496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0" y="394106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310128" y="4215384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0" y="418795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integração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310128" y="4462272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74720" y="443484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usabilidade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310128" y="4709160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0" y="468172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de bugs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181344" y="3108960"/>
            <a:ext cx="2816352" cy="1783080"/>
          </a:xfrm>
          <a:prstGeom prst="rect">
            <a:avLst/>
          </a:prstGeom>
          <a:solidFill>
            <a:srgbClr val="2A1200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81344" y="3108960"/>
            <a:ext cx="2816352" cy="438912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54496" y="3108960"/>
            <a:ext cx="26517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 — Mês 6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254496" y="358444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Entrega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6272784" y="3968496"/>
            <a:ext cx="91440" cy="91440"/>
          </a:xfrm>
          <a:prstGeom prst="ellipse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37376" y="394106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 produção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6272784" y="4215384"/>
            <a:ext cx="91440" cy="91440"/>
          </a:xfrm>
          <a:prstGeom prst="ellipse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37376" y="418795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final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272784" y="4462272"/>
            <a:ext cx="91440" cy="91440"/>
          </a:xfrm>
          <a:prstGeom prst="ellipse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37376" y="443484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do cliente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272784" y="4709160"/>
            <a:ext cx="91440" cy="91440"/>
          </a:xfrm>
          <a:prstGeom prst="ellipse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37376" y="468172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oficial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500"/>
          </a:solidFill>
          <a:ln w="12700">
            <a:solidFill>
              <a:srgbClr val="2D1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💵  CUSTOS DO PROJETO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6858000" cy="384048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 / FASE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49240" y="1143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6858000" cy="320040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910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&amp; Design UX/UI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49240" y="15910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R$ 4.000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6858000" cy="320040"/>
          </a:xfrm>
          <a:prstGeom prst="rect">
            <a:avLst/>
          </a:prstGeom>
          <a:solidFill>
            <a:srgbClr val="2D15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38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Frontend (React.js)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49240" y="19385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R$ 8.000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67712"/>
            <a:ext cx="6858000" cy="320040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Backend (Node.js + BD)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49240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R$ 9.000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615184"/>
            <a:ext cx="6858000" cy="320040"/>
          </a:xfrm>
          <a:prstGeom prst="rect">
            <a:avLst/>
          </a:prstGeom>
          <a:solidFill>
            <a:srgbClr val="2D15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334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ERP Administrativo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26334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R$ 6.000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962656"/>
            <a:ext cx="6858000" cy="320040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809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&amp; QA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29809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R$ 3.000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310128"/>
            <a:ext cx="6858000" cy="320040"/>
          </a:xfrm>
          <a:prstGeom prst="rect">
            <a:avLst/>
          </a:prstGeom>
          <a:solidFill>
            <a:srgbClr val="2D15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3284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Deploy, Infra &amp; Domínio (1 ano)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33284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R$ 2.500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6858000" cy="320040"/>
          </a:xfrm>
          <a:prstGeom prst="rect">
            <a:avLst/>
          </a:prstGeom>
          <a:solidFill>
            <a:srgbClr val="2A12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75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&amp; Treinamento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36758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R$ 1.500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005072"/>
            <a:ext cx="6858000" cy="320040"/>
          </a:xfrm>
          <a:prstGeom prst="rect">
            <a:avLst/>
          </a:prstGeom>
          <a:solidFill>
            <a:srgbClr val="2D1500"/>
          </a:solidFill>
          <a:ln w="12700">
            <a:solidFill>
              <a:srgbClr val="4A2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023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 (15%)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4023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R$ 1.000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370832"/>
            <a:ext cx="6858000" cy="475488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370832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43708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R$ 35.000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315200" y="1143000"/>
            <a:ext cx="1554480" cy="3749040"/>
          </a:xfrm>
          <a:prstGeom prst="rect">
            <a:avLst/>
          </a:prstGeom>
          <a:solidFill>
            <a:srgbClr val="2A1200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60920" y="120700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9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06640" y="1920240"/>
            <a:ext cx="1371600" cy="777240"/>
          </a:xfrm>
          <a:prstGeom prst="rect">
            <a:avLst/>
          </a:prstGeom>
          <a:solidFill>
            <a:srgbClr val="2D1500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0" y="1938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06640" y="22128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R$35k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06640" y="2834640"/>
            <a:ext cx="1371600" cy="777240"/>
          </a:xfrm>
          <a:prstGeom prst="rect">
            <a:avLst/>
          </a:prstGeom>
          <a:solidFill>
            <a:srgbClr val="2D1500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6640" y="28529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Ganho/mês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06640" y="31272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R$14k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06640" y="3749040"/>
            <a:ext cx="1371600" cy="777240"/>
          </a:xfrm>
          <a:prstGeom prst="rect">
            <a:avLst/>
          </a:prstGeom>
          <a:solidFill>
            <a:srgbClr val="2D150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0" y="3767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06640" y="40416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 meses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500"/>
          </a:solidFill>
          <a:ln w="12700">
            <a:solidFill>
              <a:srgbClr val="2D1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🖥️  WIREFRAMES — VISÃO GERAL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4206240" cy="1737360"/>
          </a:xfrm>
          <a:prstGeom prst="rect">
            <a:avLst/>
          </a:prstGeom>
          <a:solidFill>
            <a:srgbClr val="2A1200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1463040" cy="1005840"/>
          </a:xfrm>
          <a:prstGeom prst="rect">
            <a:avLst/>
          </a:prstGeom>
          <a:solidFill>
            <a:srgbClr val="2D1500"/>
          </a:solidFill>
          <a:ln w="12700">
            <a:solidFill>
              <a:srgbClr val="C9893A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1463040" cy="182880"/>
          </a:xfrm>
          <a:prstGeom prst="rect">
            <a:avLst/>
          </a:prstGeom>
          <a:solidFill>
            <a:srgbClr val="C9893A">
              <a:alpha val="60000"/>
            </a:srgbClr>
          </a:solidFill>
          <a:ln w="12700">
            <a:solidFill>
              <a:srgbClr val="C9893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9047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WF 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2295144"/>
            <a:ext cx="1463040" cy="502920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9514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47672" y="1380744"/>
            <a:ext cx="82296" cy="82296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com categorias e ícones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47672" y="1655064"/>
            <a:ext cx="82296" cy="82296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84832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 com CTA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47672" y="1929384"/>
            <a:ext cx="82296" cy="82296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84832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diferenciais (4 icons)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47672" y="2203704"/>
            <a:ext cx="82296" cy="82296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84832" y="2176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 da semana (8 cards)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947672" y="2478024"/>
            <a:ext cx="82296" cy="82296"/>
          </a:xfrm>
          <a:prstGeom prst="ellipse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84832" y="2450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completo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0016" y="1143000"/>
            <a:ext cx="4206240" cy="1737360"/>
          </a:xfrm>
          <a:prstGeom prst="rect">
            <a:avLst/>
          </a:prstGeom>
          <a:solidFill>
            <a:srgbClr val="2A1200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9744" y="1234440"/>
            <a:ext cx="1463040" cy="1005840"/>
          </a:xfrm>
          <a:prstGeom prst="rect">
            <a:avLst/>
          </a:prstGeom>
          <a:solidFill>
            <a:srgbClr val="2D1500"/>
          </a:solidFill>
          <a:ln w="12700">
            <a:solidFill>
              <a:srgbClr val="5B8FD4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1234440"/>
            <a:ext cx="1463040" cy="182880"/>
          </a:xfrm>
          <a:prstGeom prst="rect">
            <a:avLst/>
          </a:prstGeom>
          <a:solidFill>
            <a:srgbClr val="5B8FD4">
              <a:alpha val="60000"/>
            </a:srgbClr>
          </a:solidFill>
          <a:ln w="12700">
            <a:solidFill>
              <a:srgbClr val="5B8FD4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149047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8F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WF 02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809744" y="2295144"/>
            <a:ext cx="1463040" cy="502920"/>
          </a:xfrm>
          <a:prstGeom prst="rect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229514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/ Cadastro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91656" y="1380744"/>
            <a:ext cx="82296" cy="82296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8816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2 colunas (brand + form)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91656" y="1655064"/>
            <a:ext cx="82296" cy="82296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8816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Abas Entrar / Cadastrar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91656" y="1929384"/>
            <a:ext cx="82296" cy="82296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8816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social (Google / Facebook)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91656" y="2203704"/>
            <a:ext cx="82296" cy="82296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28816" y="2176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senha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91656" y="2478024"/>
            <a:ext cx="82296" cy="82296"/>
          </a:xfrm>
          <a:prstGeom prst="ellipse">
            <a:avLst/>
          </a:prstGeom>
          <a:solidFill>
            <a:srgbClr val="5B8FD4"/>
          </a:solidFill>
          <a:ln w="12700">
            <a:solidFill>
              <a:srgbClr val="5B8F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28816" y="2450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automático p/ Admin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56032" y="3063240"/>
            <a:ext cx="4206240" cy="1737360"/>
          </a:xfrm>
          <a:prstGeom prst="rect">
            <a:avLst/>
          </a:prstGeom>
          <a:solidFill>
            <a:srgbClr val="2A1200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154680"/>
            <a:ext cx="1463040" cy="1005840"/>
          </a:xfrm>
          <a:prstGeom prst="rect">
            <a:avLst/>
          </a:prstGeom>
          <a:solidFill>
            <a:srgbClr val="2D1500"/>
          </a:solidFill>
          <a:ln w="12700">
            <a:solidFill>
              <a:srgbClr val="8B6BBE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154680"/>
            <a:ext cx="1463040" cy="182880"/>
          </a:xfrm>
          <a:prstGeom prst="rect">
            <a:avLst/>
          </a:prstGeom>
          <a:solidFill>
            <a:srgbClr val="8B6BBE">
              <a:alpha val="60000"/>
            </a:srgbClr>
          </a:solidFill>
          <a:ln w="12700">
            <a:solidFill>
              <a:srgbClr val="8B6BBE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41071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6B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WF 03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365760" y="4215384"/>
            <a:ext cx="1463040" cy="502920"/>
          </a:xfrm>
          <a:prstGeom prst="rect">
            <a:avLst/>
          </a:prstGeom>
          <a:solidFill>
            <a:srgbClr val="8B6BBE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21538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Carrinho &amp; Checkout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947672" y="3300984"/>
            <a:ext cx="82296" cy="82296"/>
          </a:xfrm>
          <a:prstGeom prst="ellipse">
            <a:avLst/>
          </a:prstGeom>
          <a:solidFill>
            <a:srgbClr val="8B6BBE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84832" y="3273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4 etapas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947672" y="3575304"/>
            <a:ext cx="82296" cy="82296"/>
          </a:xfrm>
          <a:prstGeom prst="ellipse">
            <a:avLst/>
          </a:prstGeom>
          <a:solidFill>
            <a:srgbClr val="8B6BBE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84832" y="3547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itens com quantidade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947672" y="3849624"/>
            <a:ext cx="82296" cy="82296"/>
          </a:xfrm>
          <a:prstGeom prst="ellipse">
            <a:avLst/>
          </a:prstGeom>
          <a:solidFill>
            <a:srgbClr val="8B6BBE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84832" y="3822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Cupom de desconto + frete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947672" y="4123944"/>
            <a:ext cx="82296" cy="82296"/>
          </a:xfrm>
          <a:prstGeom prst="ellipse">
            <a:avLst/>
          </a:prstGeom>
          <a:solidFill>
            <a:srgbClr val="8B6BBE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84832" y="4096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entrega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947672" y="4398264"/>
            <a:ext cx="82296" cy="82296"/>
          </a:xfrm>
          <a:prstGeom prst="ellipse">
            <a:avLst/>
          </a:prstGeom>
          <a:solidFill>
            <a:srgbClr val="8B6BBE"/>
          </a:solidFill>
          <a:ln w="12700">
            <a:solidFill>
              <a:srgbClr val="8B6BB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84832" y="4370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pagamento + confirmação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700016" y="3063240"/>
            <a:ext cx="4206240" cy="1737360"/>
          </a:xfrm>
          <a:prstGeom prst="rect">
            <a:avLst/>
          </a:prstGeom>
          <a:solidFill>
            <a:srgbClr val="2A1200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09744" y="3154680"/>
            <a:ext cx="1463040" cy="1005840"/>
          </a:xfrm>
          <a:prstGeom prst="rect">
            <a:avLst/>
          </a:prstGeom>
          <a:solidFill>
            <a:srgbClr val="2D1500"/>
          </a:solidFill>
          <a:ln w="12700">
            <a:solidFill>
              <a:srgbClr val="4CAF7D">
                <a:alpha val="5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09744" y="3154680"/>
            <a:ext cx="1463040" cy="182880"/>
          </a:xfrm>
          <a:prstGeom prst="rect">
            <a:avLst/>
          </a:prstGeom>
          <a:solidFill>
            <a:srgbClr val="4CAF7D">
              <a:alpha val="60000"/>
            </a:srgbClr>
          </a:solidFill>
          <a:ln w="12700">
            <a:solidFill>
              <a:srgbClr val="4CAF7D">
                <a:alpha val="6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9744" y="341071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WF 04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4809744" y="4215384"/>
            <a:ext cx="1463040" cy="5029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9744" y="421538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Admin (ERP)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391656" y="3300984"/>
            <a:ext cx="82296" cy="8229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28816" y="3273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de navegação completa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391656" y="3575304"/>
            <a:ext cx="82296" cy="8229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28816" y="3547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em cards (receita, pedidos)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391656" y="3849624"/>
            <a:ext cx="82296" cy="8229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28816" y="3822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vendas (30 dias)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391656" y="4123944"/>
            <a:ext cx="82296" cy="8229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28816" y="4096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pedidos recentes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391656" y="4398264"/>
            <a:ext cx="82296" cy="8229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28816" y="4370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nova peça (entrada)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C9893A">
              <a:alpha val="10000"/>
            </a:srgbClr>
          </a:solidFill>
          <a:ln w="12700">
            <a:solidFill>
              <a:srgbClr val="C9893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2D1500"/>
          </a:solidFill>
          <a:ln w="12700">
            <a:solidFill>
              <a:srgbClr val="2D1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73152" cy="2011680"/>
          </a:xfrm>
          <a:prstGeom prst="rect">
            <a:avLst/>
          </a:prstGeom>
          <a:solidFill>
            <a:srgbClr val="C9893A"/>
          </a:solidFill>
          <a:ln w="12700">
            <a:solidFill>
              <a:srgbClr val="C989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74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VintageHub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 sustentável. Tecnologia moderna. Negócio rentável.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2A1200"/>
          </a:solidFill>
          <a:ln w="12700">
            <a:solidFill>
              <a:srgbClr val="C9893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E-commerce completo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10128" y="20574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2A1200"/>
          </a:solidFill>
          <a:ln w="12700">
            <a:solidFill>
              <a:srgbClr val="C9893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2057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ERP integrado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63056" y="20574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2A1200"/>
          </a:solidFill>
          <a:ln w="12700">
            <a:solidFill>
              <a:srgbClr val="C9893A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3056" y="2057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ROI em ~4 meses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2A1200"/>
          </a:solidFill>
          <a:ln w="12700">
            <a:solidFill>
              <a:srgbClr val="C9893A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Impacto sustentável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10128" y="27432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2A1200"/>
          </a:solidFill>
          <a:ln w="12700">
            <a:solidFill>
              <a:srgbClr val="C9893A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Tecnologia segura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63056" y="27432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2A1200"/>
          </a:solidFill>
          <a:ln w="12700">
            <a:solidFill>
              <a:srgbClr val="C9893A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Mobile-first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9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Obrigado!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e discussões?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Engenharia de Software · Fatec Ourinhos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1457</Words>
  <Application>Microsoft Office PowerPoint</Application>
  <PresentationFormat>Apresentação na tela (16:9)</PresentationFormat>
  <Paragraphs>319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VintageHub – Projeto de Engenharia de Software</dc:title>
  <dc:subject>PptxGenJS Presentation</dc:subject>
  <dc:creator>PptxGenJS</dc:creator>
  <cp:lastModifiedBy>Gabriel Gonçalves</cp:lastModifiedBy>
  <cp:revision>3</cp:revision>
  <dcterms:created xsi:type="dcterms:W3CDTF">2026-03-04T20:00:18Z</dcterms:created>
  <dcterms:modified xsi:type="dcterms:W3CDTF">2026-03-04T20:03:55Z</dcterms:modified>
</cp:coreProperties>
</file>